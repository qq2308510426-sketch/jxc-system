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进销存管理系统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8BDF8"/>
                </a:solidFill>
              </a:defRPr>
            </a:pPr>
            <a:r>
              <a:t>Enterprise Inventory Management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基于 Spring Boot + Vue.js 的企业进销存管理系统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《Java程序设计》期末大作业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01  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188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02  技术架构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03  系统架构设计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691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04  仪表盘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05  商品管理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06  基础数据管理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07  入库管理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697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08  出库管理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09  库存盘点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10  订单管理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03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11  退货换货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703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12  付款记录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13  数据导入导出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206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14  销售报表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15  库存报表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709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16  用户与权限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12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17  通知与日志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5212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18  数据库设计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15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19  API设计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5715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t>20  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01  项目概述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</a:defRPr>
            </a:pPr>
            <a:r>
              <a:t>项目背景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中小型企业进销存管理需求日益增长，传统手工记账效率低、易出错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本系统实现商品全生命周期管理：采购入库 → 库存管理 → 销售出库 → 财务结算</a:t>
            </a:r>
          </a:p>
          <a:p>
            <a:pPr>
              <a:spcBef>
                <a:spcPts val="600"/>
              </a:spcBef>
              <a:defRPr sz="800" b="0">
                <a:solidFill>
                  <a:srgbClr val="E2E8F0"/>
                </a:solidFill>
              </a:defRPr>
            </a:pPr>
          </a:p>
          <a:p>
            <a:pPr>
              <a:spcBef>
                <a:spcPts val="1600"/>
              </a:spcBef>
              <a:defRPr sz="2200" b="1">
                <a:solidFill>
                  <a:srgbClr val="38BDF8"/>
                </a:solidFill>
              </a:defRPr>
            </a:pPr>
            <a:r>
              <a:t>核心功能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商品管理 — 商品增删改查、分类管理、供应商管理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库存管理 — 入库/出库操作、库存盘点、库存预警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订单管理 — 销售订单创建、发货、完成、取消全流程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财务模块 — 付款记录、退货退款、成本利润核算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报表统计 — 销售报表、库存报表、CSV数据导出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系统管理 — 用户权限、操作日志、消息通知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02  技术架构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029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97316"/>
                </a:solidFill>
              </a:defRPr>
            </a:pPr>
            <a:r>
              <a:t>后端技术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Java 21 + Spring Boot 3.2.5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MyBatis-Plus — ORM框架，简化数据库操作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MySQL 8.0 — 关系型数据库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JWT — 无状态Token认证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HikariCP — 高性能数据库连接池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AOP — 日志切面，自动记录操作日志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Maven 3.9.6 — 项目构建与依赖管理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80160"/>
            <a:ext cx="5029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</a:defRPr>
            </a:pPr>
            <a:r>
              <a:t>前端技术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Vue 3 — 组合式API，响应式开发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Vite 6.4 — 极速开发构建工具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Element Plus — UI组件库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Tailwind CSS 4 — 原子化CSS框架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Vue Router 4 — 前端路由管理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Pinia — 状态管理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Axios — HTTP请求封装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Chart.js — 图表可视化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03  系统架构设计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371600"/>
            <a:ext cx="85039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103120" y="1417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</a:defRPr>
            </a:pPr>
            <a:r>
              <a:t>表现层 (Frontend)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41732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Vue 3 + Element Plus + Tailwind CSS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2468880"/>
            <a:ext cx="85039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03120" y="2514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</a:defRPr>
            </a:pPr>
            <a:r>
              <a:t>接口层 (API)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5146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RESTful API  |  JWT Token认证  |  统一响应格式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566160"/>
            <a:ext cx="85039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3611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</a:defRPr>
            </a:pPr>
            <a:r>
              <a:t>业务层 (Service)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61188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商品 | 库存 | 订单 | 退货 | 付款 | 报表 | 用户 | 通知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663440"/>
            <a:ext cx="85039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4709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持久层 (Mapper)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70916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MyBatis-Plus  |  20个Entity  |  LambdaQueryWrapper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5760720"/>
            <a:ext cx="8503920" cy="9144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03120" y="5806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4D7D"/>
                </a:solidFill>
              </a:defRPr>
            </a:pPr>
            <a:r>
              <a:t>数据层 (MySQL)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80644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t_product | t_order | t_stock_in | t_stock_out | t_user | ...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04  仪表盘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5603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📦  商品总数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8BDF8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280160"/>
            <a:ext cx="25603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🏭  供应商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828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2C55E"/>
                </a:solidFill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80160"/>
            <a:ext cx="25603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📊  库存总量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828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97316"/>
                </a:solidFill>
              </a:defRPr>
            </a:pPr>
            <a:r>
              <a:t>846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280160"/>
            <a:ext cx="256032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0" y="1371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💰  累计利润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8288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78BFA"/>
                </a:solidFill>
              </a:defRPr>
            </a:pPr>
            <a:r>
              <a:t>¥2001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17520"/>
            <a:ext cx="10698480" cy="3474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2004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仪表盘功能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核心指标卡片 — 商品总数、供应商数量、库存总量、累计利润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近7天销售趋势图 — 基于Chart.js的折线图展示每日销售走势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库存状态分布 — 饼图展示正常/预警/缺货商品占比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快捷操作入口 — 一键跳转到入库、出库、创建订单、销售报表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最近订单 — 展示最新的5笔订单，包含订单号、客户、金额、状态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库存预警 — 列出库存低于安全库存的商品，红色高亮提醒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05  商品管理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</a:defRPr>
            </a:pPr>
            <a:r>
              <a:t>商品全生命周期管理</a:t>
            </a:r>
          </a:p>
          <a:p>
            <a:pPr>
              <a:spcBef>
                <a:spcPts val="1600"/>
              </a:spcBef>
              <a:defRPr sz="1800" b="1">
                <a:solidFill>
                  <a:srgbClr val="38BDF8"/>
                </a:solidFill>
              </a:defRPr>
            </a:pPr>
            <a:r>
              <a:t>功能特性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商品列表 — 分页展示，支持关键词搜索，显示库存/成本价/安全库存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新增/编辑商品 — 商品名称、规格、售价、分类、供应商、状态等字段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删除保护 — 有关联入库/出库记录的商品不允许删除，保证数据完整性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库存预警 — 库存 &lt;= 安全库存时红色高亮显示</a:t>
            </a:r>
          </a:p>
          <a:p>
            <a:pPr>
              <a:spcBef>
                <a:spcPts val="1600"/>
              </a:spcBef>
              <a:defRPr sz="1800" b="1">
                <a:solidFill>
                  <a:srgbClr val="38BDF8"/>
                </a:solidFill>
              </a:defRPr>
            </a:pPr>
            <a:r>
              <a:t>数据模型 (t_product)</a:t>
            </a:r>
          </a:p>
          <a:p>
            <a:pPr>
              <a:spcBef>
                <a:spcPts val="400"/>
              </a:spcBef>
              <a:defRPr sz="1600">
                <a:solidFill>
                  <a:srgbClr val="94A3B8"/>
                </a:solidFill>
              </a:defRPr>
            </a:pPr>
            <a:r>
              <a:t>  id, name, category_id, spec, price, stock, reserved_stock</a:t>
            </a:r>
          </a:p>
          <a:p>
            <a:pPr>
              <a:spcBef>
                <a:spcPts val="400"/>
              </a:spcBef>
              <a:defRPr sz="1600">
                <a:solidFill>
                  <a:srgbClr val="94A3B8"/>
                </a:solidFill>
              </a:defRPr>
            </a:pPr>
            <a:r>
              <a:t>  safety_stock, supplier_id, cost_price, image_url, status</a:t>
            </a:r>
          </a:p>
          <a:p>
            <a:pPr>
              <a:spcBef>
                <a:spcPts val="1600"/>
              </a:spcBef>
              <a:defRPr sz="1800" b="1">
                <a:solidFill>
                  <a:srgbClr val="38BDF8"/>
                </a:solidFill>
              </a:defRPr>
            </a:pPr>
            <a:r>
              <a:t>关键接口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  GET /api/product/list — 分页查询  |  POST /api/product — 新增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  PUT /api/product — 编辑  |  DELETE /api/product/{id} — 删除(有保护)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06  基础数据管理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56032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分类管理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/api/category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  商品分类的增删改查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  支持树形分类结构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  分类关联商品统计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1280160"/>
            <a:ext cx="256032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1463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供应商管理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/api/supplier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56032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  供应商信息维护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  联系人、电话、地址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  关联入库记录查询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280160"/>
            <a:ext cx="256032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463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</a:defRPr>
            </a:pPr>
            <a:r>
              <a:t>客户管理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/api/customer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56032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  客户信息管理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  联系人、信用等级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  关联订单记录查询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1280160"/>
            <a:ext cx="256032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14630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</a:defRPr>
            </a:pPr>
            <a:r>
              <a:t>仓库管理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/api/warehouse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560320"/>
            <a:ext cx="2011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  仓库信息维护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  仓库地址管理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  库存分仓统计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07  入库管理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029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入库操作流程</a:t>
            </a:r>
          </a:p>
          <a:p>
            <a:pPr>
              <a:spcBef>
                <a:spcPts val="600"/>
              </a:spcBef>
              <a:defRPr sz="6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1. 选择商品、供应商、仓库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2. 填写批次号、数量、单价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3. 提交入库单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4. 系统自动增加库存 (stock += qty)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5. 创建入库记录 (t_stock_in)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6. 低库存时自动发送预警通知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80160"/>
            <a:ext cx="5029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</a:defRPr>
            </a:pPr>
            <a:r>
              <a:t>数据模型 (t_stock_in)</a:t>
            </a:r>
          </a:p>
          <a:p>
            <a:pPr>
              <a:spcBef>
                <a:spcPts val="600"/>
              </a:spcBef>
              <a:defRPr sz="6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id — 主键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product_id — 关联商品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supplier_id — 关联供应商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warehouse_id — 关联仓库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batch_no — 批次号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quantity — 入库数量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unit_price — 入库单价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operator_id — 操作人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create_time — 创建时间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08  出库管理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</a:defRPr>
            </a:pPr>
            <a:r>
              <a:t>出库操作流程</a:t>
            </a:r>
          </a:p>
          <a:p>
            <a:pPr>
              <a:spcBef>
                <a:spcPts val="1600"/>
              </a:spcBef>
              <a:defRPr sz="1800" b="1">
                <a:solidFill>
                  <a:srgbClr val="38BDF8"/>
                </a:solidFill>
              </a:defRPr>
            </a:pPr>
            <a:r>
              <a:t>两种出库方式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手动出库 — 在出库页面直接操作，选择商品、客户，填写数量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订单出库 — 创建销售订单时自动预留库存，发货时扣减库存</a:t>
            </a:r>
          </a:p>
          <a:p>
            <a:pPr>
              <a:spcBef>
                <a:spcPts val="1600"/>
              </a:spcBef>
              <a:defRPr sz="1800" b="1">
                <a:solidFill>
                  <a:srgbClr val="38BDF8"/>
                </a:solidFill>
              </a:defRPr>
            </a:pPr>
            <a:r>
              <a:t>出库流程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1. 选择商品和客户 → 2. 填写数量 → 3. 校验库存是否充足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4. 扣减库存 (stock -= qty) → 5. 释放预留 (reserved_stock -= qty)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6. 创建出库记录 (t_stock_out) → 7. 低库存时发送预警通知</a:t>
            </a:r>
          </a:p>
          <a:p>
            <a:pPr>
              <a:spcBef>
                <a:spcPts val="1600"/>
              </a:spcBef>
              <a:defRPr sz="1800" b="1">
                <a:solidFill>
                  <a:srgbClr val="F97316"/>
                </a:solidFill>
              </a:defRPr>
            </a:pPr>
            <a:r>
              <a:t>库存安全机制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预留库存 — 订单创建时 reserved_stock++，发货时 stock-- 并释放预留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可用库存 = stock - reserved_stock，确保不会超卖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取消订单 — 自动释放预留库存 (reserved_stock--)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09  库存盘点与记录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029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库存盘点</a:t>
            </a:r>
          </a:p>
          <a:p>
            <a:pPr>
              <a:spcBef>
                <a:spcPts val="600"/>
              </a:spcBef>
              <a:defRPr sz="6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展示所有商品的当前库存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对比安全库存，自动标记预警状态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红色高亮显示库存不足的商品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支持按商品名称搜索筛选</a:t>
            </a:r>
          </a:p>
          <a:p>
            <a:pPr>
              <a:spcBef>
                <a:spcPts val="600"/>
              </a:spcBef>
              <a:defRPr sz="600" b="0">
                <a:solidFill>
                  <a:srgbClr val="E2E8F0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</a:defRPr>
            </a:pPr>
            <a:r>
              <a:t>出入库记录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完整记录每一次入库/出库操作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包含商品、数量、时间、操作人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支持按时间范围筛选查询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5029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84D7D"/>
                </a:solidFill>
              </a:defRPr>
            </a:pPr>
            <a:r>
              <a:t>库存预警机制</a:t>
            </a:r>
          </a:p>
          <a:p>
            <a:pPr>
              <a:spcBef>
                <a:spcPts val="600"/>
              </a:spcBef>
              <a:defRPr sz="6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每次入库/出库后自动检查库存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stock &lt;= safety_stock 时触发预警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自动生成库存预警通知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通知推送到消息中心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仪表盘实时展示预警商品列表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10  订单管理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</a:defRPr>
            </a:pPr>
            <a:r>
              <a:t>订单全生命周期</a:t>
            </a:r>
          </a:p>
          <a:p>
            <a:pPr>
              <a:spcBef>
                <a:spcPts val="1600"/>
              </a:spcBef>
              <a:defRPr sz="1800" b="1">
                <a:solidFill>
                  <a:srgbClr val="38BDF8"/>
                </a:solidFill>
              </a:defRPr>
            </a:pPr>
            <a:r>
              <a:t>订单状态流转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创建订单 → 待处理 → 发货中 → 已完成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创建订单 → 待处理 → 已取消</a:t>
            </a:r>
          </a:p>
          <a:p>
            <a:pPr>
              <a:spcBef>
                <a:spcPts val="1600"/>
              </a:spcBef>
              <a:defRPr sz="1800" b="1">
                <a:solidFill>
                  <a:srgbClr val="38BDF8"/>
                </a:solidFill>
              </a:defRPr>
            </a:pPr>
            <a:r>
              <a:t>创建订单流程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1. 选择客户 → 2. 添加商品（支持多件） → 3. 填写数量和单价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4. 系统自动计算小计和总金额 → 5. 提交订单</a:t>
            </a:r>
          </a:p>
          <a:p>
            <a:pPr>
              <a:spcBef>
                <a:spcPts val="1600"/>
              </a:spcBef>
              <a:defRPr sz="1800" b="1">
                <a:solidFill>
                  <a:srgbClr val="38BDF8"/>
                </a:solidFill>
              </a:defRPr>
            </a:pPr>
            <a:r>
              <a:t>发货处理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发货时自动扣减库存 (stock -= qty)，释放预留 (reserved_stock -= qty)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库存不足时阻止发货，提示用户</a:t>
            </a:r>
          </a:p>
          <a:p>
            <a:pPr>
              <a:spcBef>
                <a:spcPts val="1600"/>
              </a:spcBef>
              <a:defRPr sz="1800" b="1">
                <a:solidFill>
                  <a:srgbClr val="F97316"/>
                </a:solidFill>
              </a:defRPr>
            </a:pPr>
            <a:r>
              <a:t>取消订单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取消时自动释放预留库存 (reserved_stock -= qty)，不影响实际库存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11  退货换货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029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退货/换货流程</a:t>
            </a:r>
          </a:p>
          <a:p>
            <a:pPr>
              <a:spcBef>
                <a:spcPts val="600"/>
              </a:spcBef>
              <a:defRPr sz="6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创建退货单 — 选择客户、退货商品、数量、单价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支持两种类型：退货（退款）和换货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填写退货原因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支持多件商品退货</a:t>
            </a:r>
          </a:p>
          <a:p>
            <a:pPr>
              <a:spcBef>
                <a:spcPts val="600"/>
              </a:spcBef>
              <a:defRPr sz="6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审批处理 — 管理员批准或拒绝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批准后自动处理退款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80160"/>
            <a:ext cx="5029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</a:defRPr>
            </a:pPr>
            <a:r>
              <a:t>数据模型</a:t>
            </a:r>
          </a:p>
          <a:p>
            <a:pPr>
              <a:spcBef>
                <a:spcPts val="600"/>
              </a:spcBef>
              <a:defRPr sz="6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t_return — 退货主表</a:t>
            </a:r>
          </a:p>
          <a:p>
            <a:pPr>
              <a:spcBef>
                <a:spcPts val="400"/>
              </a:spcBef>
              <a:defRPr sz="1600">
                <a:solidFill>
                  <a:srgbClr val="94A3B8"/>
                </a:solidFill>
              </a:defRPr>
            </a:pPr>
            <a:r>
              <a:t>    return_no, type, customer_id</a:t>
            </a:r>
          </a:p>
          <a:p>
            <a:pPr>
              <a:spcBef>
                <a:spcPts val="400"/>
              </a:spcBef>
              <a:defRPr sz="1600">
                <a:solidFill>
                  <a:srgbClr val="94A3B8"/>
                </a:solidFill>
              </a:defRPr>
            </a:pPr>
            <a:r>
              <a:t>    total_amount, reason, status</a:t>
            </a:r>
          </a:p>
          <a:p>
            <a:pPr>
              <a:spcBef>
                <a:spcPts val="400"/>
              </a:spcBef>
              <a:defRPr sz="600">
                <a:solidFill>
                  <a:srgbClr val="E2E8F0"/>
                </a:solidFill>
              </a:defRPr>
            </a:pPr>
            <a:r>
              <a:t>  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t_return_item — 退货明细</a:t>
            </a:r>
          </a:p>
          <a:p>
            <a:pPr>
              <a:spcBef>
                <a:spcPts val="400"/>
              </a:spcBef>
              <a:defRPr sz="1600">
                <a:solidFill>
                  <a:srgbClr val="94A3B8"/>
                </a:solidFill>
              </a:defRPr>
            </a:pPr>
            <a:r>
              <a:t>    return_id, product_id</a:t>
            </a:r>
          </a:p>
          <a:p>
            <a:pPr>
              <a:spcBef>
                <a:spcPts val="400"/>
              </a:spcBef>
              <a:defRPr sz="1600">
                <a:solidFill>
                  <a:srgbClr val="94A3B8"/>
                </a:solidFill>
              </a:defRPr>
            </a:pPr>
            <a:r>
              <a:t>    quantity, unit_price</a:t>
            </a:r>
          </a:p>
          <a:p>
            <a:pPr>
              <a:spcBef>
                <a:spcPts val="600"/>
              </a:spcBef>
              <a:defRPr sz="6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状态：0=待处理 1=已处理 2=已拒绝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12  付款记录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</a:defRPr>
            </a:pPr>
            <a:r>
              <a:t>财务结算管理</a:t>
            </a:r>
          </a:p>
          <a:p>
            <a:pPr>
              <a:spcBef>
                <a:spcPts val="1600"/>
              </a:spcBef>
              <a:defRPr sz="1800" b="1">
                <a:solidFill>
                  <a:srgbClr val="38BDF8"/>
                </a:solidFill>
              </a:defRPr>
            </a:pPr>
            <a:r>
              <a:t>功能说明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记录每一笔付款信息，关联到具体订单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支持多种付款方式：现金、银行转账、微信、支付宝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展示付款时间、金额、关联订单号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支持按订单号、客户、时间范围筛选</a:t>
            </a:r>
          </a:p>
          <a:p>
            <a:pPr>
              <a:spcBef>
                <a:spcPts val="1600"/>
              </a:spcBef>
              <a:defRPr sz="1800" b="1">
                <a:solidFill>
                  <a:srgbClr val="38BDF8"/>
                </a:solidFill>
              </a:defRPr>
            </a:pPr>
            <a:r>
              <a:t>数据模型 (t_payment)</a:t>
            </a:r>
          </a:p>
          <a:p>
            <a:pPr>
              <a:spcBef>
                <a:spcPts val="400"/>
              </a:spcBef>
              <a:defRPr sz="1600">
                <a:solidFill>
                  <a:srgbClr val="94A3B8"/>
                </a:solidFill>
              </a:defRPr>
            </a:pPr>
            <a:r>
              <a:t>  id, order_id, customer_id, amount, payment_method, create_time</a:t>
            </a:r>
          </a:p>
          <a:p>
            <a:pPr>
              <a:spcBef>
                <a:spcPts val="1600"/>
              </a:spcBef>
              <a:defRPr sz="1800" b="1">
                <a:solidFill>
                  <a:srgbClr val="38BDF8"/>
                </a:solidFill>
              </a:defRPr>
            </a:pPr>
            <a:r>
              <a:t>业务逻辑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订单创建时自动生成待付款记录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客户付款后更新付款状态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支持部分付款和全额付款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13  数据导入导出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029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CSV数据导出</a:t>
            </a:r>
          </a:p>
          <a:p>
            <a:pPr>
              <a:spcBef>
                <a:spcPts val="600"/>
              </a:spcBef>
              <a:defRPr sz="6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导出商品数据 → products.csv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导出客户数据 → customers.csv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导出供应商数据 → suppliers.csv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UTF-8 BOM编码，Excel直接打开不乱码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CsvExportUtil工具类封装导出逻辑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80160"/>
            <a:ext cx="5029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</a:defRPr>
            </a:pPr>
            <a:r>
              <a:t>CSV数据导入</a:t>
            </a:r>
          </a:p>
          <a:p>
            <a:pPr>
              <a:spcBef>
                <a:spcPts val="600"/>
              </a:spcBef>
              <a:defRPr sz="6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上传CSV文件批量导入数据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支持导入商品、客户、供应商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自动跳过表头行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字段解析：名称、规格、单价、库存等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异常处理：格式错误时返回错误信息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批量插入：saveBatch()高效写入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14  销售报表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</a:defRPr>
            </a:pPr>
            <a:r>
              <a:t>销售数据分析</a:t>
            </a:r>
          </a:p>
          <a:p>
            <a:pPr>
              <a:spcBef>
                <a:spcPts val="1600"/>
              </a:spcBef>
              <a:defRPr sz="1800" b="1">
                <a:solidFill>
                  <a:srgbClr val="38BDF8"/>
                </a:solidFill>
              </a:defRPr>
            </a:pPr>
            <a:r>
              <a:t>功能特性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日期范围选择 — Element Plus日期范围选择器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每日销售统计 — 订单数、销售额、成本额、利润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利润计算 — 基于商品成本价 * 数量计算每日成本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CSV导出 — 一键导出销售报表为CSV文件</a:t>
            </a:r>
          </a:p>
          <a:p>
            <a:pPr>
              <a:spcBef>
                <a:spcPts val="1600"/>
              </a:spcBef>
              <a:defRPr sz="1800" b="1">
                <a:solidFill>
                  <a:srgbClr val="F97316"/>
                </a:solidFill>
              </a:defRPr>
            </a:pPr>
            <a:r>
              <a:t>利润计算逻辑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totalSales = SUM(订单金额)  |  totalCost = SUM(商品成本价 * 数量)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profit = totalSales - totalCost  |  正利润绿色，负利润红色</a:t>
            </a:r>
          </a:p>
          <a:p>
            <a:pPr>
              <a:spcBef>
                <a:spcPts val="1600"/>
              </a:spcBef>
              <a:defRPr sz="1800" b="1">
                <a:solidFill>
                  <a:srgbClr val="38BDF8"/>
                </a:solidFill>
              </a:defRPr>
            </a:pPr>
            <a:r>
              <a:t>接口设计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  GET /api/report/sales?startDate=2026-06-01&amp;endDate=2026-06-18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  GET /api/report/sales/export?startDate=...&amp;endDate=... (CSV下载)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15  库存报表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</a:defRPr>
            </a:pPr>
            <a:r>
              <a:t>库存统计与分析</a:t>
            </a:r>
          </a:p>
          <a:p>
            <a:pPr>
              <a:spcBef>
                <a:spcPts val="1600"/>
              </a:spcBef>
              <a:defRPr sz="1800" b="1">
                <a:solidFill>
                  <a:srgbClr val="38BDF8"/>
                </a:solidFill>
              </a:defRPr>
            </a:pPr>
            <a:r>
              <a:t>报表内容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商品名称 — 所有在售商品列表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当前库存 — 实时库存数量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安全库存 — 预设的安全库存阈值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库存状态 — 正常/预警，自动判断</a:t>
            </a:r>
          </a:p>
          <a:p>
            <a:pPr>
              <a:spcBef>
                <a:spcPts val="1600"/>
              </a:spcBef>
              <a:defRPr sz="1800" b="1">
                <a:solidFill>
                  <a:srgbClr val="38BDF8"/>
                </a:solidFill>
              </a:defRPr>
            </a:pPr>
            <a:r>
              <a:t>导出功能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导出CSV — 包含商品名称、规格、单价、库存、安全库存、状态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UTF-8 BOM编码，Excel中文不乱码</a:t>
            </a:r>
          </a:p>
          <a:p>
            <a:pPr>
              <a:spcBef>
                <a:spcPts val="1600"/>
              </a:spcBef>
              <a:defRPr sz="1800" b="1">
                <a:solidFill>
                  <a:srgbClr val="38BDF8"/>
                </a:solidFill>
              </a:defRPr>
            </a:pPr>
            <a:r>
              <a:t>后端实现</a:t>
            </a:r>
          </a:p>
          <a:p>
            <a:pPr>
              <a:spcBef>
                <a:spcPts val="400"/>
              </a:spcBef>
              <a:defRPr sz="1600">
                <a:solidFill>
                  <a:srgbClr val="94A3B8"/>
                </a:solidFill>
              </a:defRPr>
            </a:pPr>
            <a:r>
              <a:t>  ReportServiceImpl.stockReport() — 遍历所有商品，计算预警状态</a:t>
            </a:r>
          </a:p>
          <a:p>
            <a:pPr>
              <a:spcBef>
                <a:spcPts val="400"/>
              </a:spcBef>
              <a:defRPr sz="1600">
                <a:solidFill>
                  <a:srgbClr val="94A3B8"/>
                </a:solidFill>
              </a:defRPr>
            </a:pPr>
            <a:r>
              <a:t>  ReportVO — productId, productName, currentStock, safetyStock, warning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16  用户与权限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029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8BDF8"/>
                </a:solidFill>
              </a:defRPr>
            </a:pPr>
            <a:r>
              <a:t>用户管理</a:t>
            </a:r>
          </a:p>
          <a:p>
            <a:pPr>
              <a:spcBef>
                <a:spcPts val="600"/>
              </a:spcBef>
              <a:defRPr sz="6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用户增删改查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角色：管理员 / 普通用户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密码修改功能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登录状态管理 (JWT)</a:t>
            </a:r>
          </a:p>
          <a:p>
            <a:pPr>
              <a:spcBef>
                <a:spcPts val="600"/>
              </a:spcBef>
              <a:defRPr sz="6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  接口：POST /api/auth/login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  接口：PUT /api/user/change-password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80160"/>
            <a:ext cx="5029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</a:defRPr>
            </a:pPr>
            <a:r>
              <a:t>认证机制</a:t>
            </a:r>
          </a:p>
          <a:p>
            <a:pPr>
              <a:spcBef>
                <a:spcPts val="600"/>
              </a:spcBef>
              <a:defRPr sz="6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JWT Token — 无状态认证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登录获取Token → 存储localStorage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每次请求携带 Authorization Header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Token过期自动跳转登录页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登录频率限制 (LoginRateLimiter)</a:t>
            </a:r>
          </a:p>
          <a:p>
            <a:pPr>
              <a:spcBef>
                <a:spcPts val="600"/>
              </a:spcBef>
              <a:defRPr sz="6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路由守卫 — 未登录拦截跳转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17  通知与日志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029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消息通知中心</a:t>
            </a:r>
          </a:p>
          <a:p>
            <a:pPr>
              <a:spcBef>
                <a:spcPts val="600"/>
              </a:spcBef>
              <a:defRPr sz="6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库存预警通知 — 自动推送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未读消息计数 — 侧边栏红点提示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消息列表 — 分页展示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标记已读 / 全部已读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定时轮询 — 每5分钟检查未读数</a:t>
            </a:r>
          </a:p>
          <a:p>
            <a:pPr>
              <a:spcBef>
                <a:spcPts val="600"/>
              </a:spcBef>
              <a:defRPr sz="6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  接口：GET /notification/unread-count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  接口：PUT /notification/{id}/read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280160"/>
            <a:ext cx="5029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146304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7316"/>
                </a:solidFill>
              </a:defRPr>
            </a:pPr>
            <a:r>
              <a:t>操作日志</a:t>
            </a:r>
          </a:p>
          <a:p>
            <a:pPr>
              <a:spcBef>
                <a:spcPts val="600"/>
              </a:spcBef>
              <a:defRPr sz="6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AOP切面自动记录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记录操作人、操作类型、详情、IP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分页查询日志列表</a:t>
            </a:r>
          </a:p>
          <a:p>
            <a:pPr>
              <a:spcBef>
                <a:spcPts val="600"/>
              </a:spcBef>
              <a:defRPr sz="6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数据模型 (t_log)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    action, detail, ip, create_time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18  数据库设计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2743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</a:defRPr>
            </a:pPr>
            <a:r>
              <a:t>核心业务表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  t_product — 商品表 (22条数据)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  t_order — 订单表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  t_order_item — 订单明细表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  t_stock_in — 入库记录表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  t_stock_out — 出库记录表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280160"/>
            <a:ext cx="2743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基础数据表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92024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  t_category — 分类表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  t_supplier — 供应商表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  t_customer — 客户表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  t_warehouse — 仓库表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  t_product_batch — 批次表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2743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</a:defRPr>
            </a:pPr>
            <a:r>
              <a:t>财务与退货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  t_payment — 付款记录表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  t_return — 退货主表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  t_return_item — 退货明细表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  t_inventory_check — 盘点表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  t_inventory_check_item — 盘点明细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35440" y="1280160"/>
            <a:ext cx="274320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371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</a:defRPr>
            </a:pPr>
            <a:r>
              <a:t>系统管理表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920240"/>
            <a:ext cx="2377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</a:defRPr>
            </a:pP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  t_user — 用户表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  t_log — 操作日志表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  t_notification — 通知表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  t_role_permission — 角色权限表</a:t>
            </a:r>
          </a:p>
          <a:p>
            <a:pPr>
              <a:spcBef>
                <a:spcPts val="400"/>
              </a:spcBef>
              <a:defRPr sz="1200">
                <a:solidFill>
                  <a:srgbClr val="E2E8F0"/>
                </a:solidFill>
              </a:defRPr>
            </a:pPr>
            <a:r>
              <a:t>  t_product_stock — 商品库存表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19  API设计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8BDF8"/>
                </a:solidFill>
              </a:defRPr>
            </a:pPr>
            <a:r>
              <a:t>RESTful API 设计规范</a:t>
            </a:r>
          </a:p>
          <a:p>
            <a:pPr>
              <a:spcBef>
                <a:spcPts val="1600"/>
              </a:spcBef>
              <a:defRPr sz="1800" b="1">
                <a:solidFill>
                  <a:srgbClr val="38BDF8"/>
                </a:solidFill>
              </a:defRPr>
            </a:pPr>
            <a:r>
              <a:t>统一响应格式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  { code:200/message:success/data:{...} }</a:t>
            </a:r>
          </a:p>
          <a:p>
            <a:pPr>
              <a:spcBef>
                <a:spcPts val="400"/>
              </a:spcBef>
              <a:defRPr sz="1400">
                <a:solidFill>
                  <a:srgbClr val="94A3B8"/>
                </a:solidFill>
              </a:defRPr>
            </a:pPr>
            <a:r>
              <a:t>  分页响应：total/rows格式的分页JSON</a:t>
            </a:r>
          </a:p>
          <a:p>
            <a:pPr>
              <a:spcBef>
                <a:spcPts val="1600"/>
              </a:spcBef>
              <a:defRPr sz="1800" b="1">
                <a:solidFill>
                  <a:srgbClr val="38BDF8"/>
                </a:solidFill>
              </a:defRPr>
            </a:pPr>
            <a:r>
              <a:t>API端点总览 (~77个端点)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  认证: /api/auth/login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  商品: /api/product (GET/POST/PUT/DELETE)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  分类: /api/category  |  供应商: /api/supplier  |  客户: /api/customer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  入库: /api/stock/in  |  出库: /api/stock/out  |  盘点: /api/stock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  订单: /api/order (CRUD + 发货/取消)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  退货: /api/return (CRUD + 审批)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  付款: /api/payment  |  报表: /api/report (sales/stock)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  导入导出: /api/data (import/export)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  用户: /api/user  |  日志: /api/log  |  通知: /api/notification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8BDF8"/>
                </a:solidFill>
              </a:defRPr>
            </a:pPr>
            <a:r>
              <a:t>20  总结与展望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201168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</a:defRPr>
            </a:pPr>
            <a:r>
              <a:t>115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Java文件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17520" y="1280160"/>
            <a:ext cx="201168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13716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Vue组件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280160"/>
            <a:ext cx="201168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13716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</a:defRPr>
            </a:pPr>
            <a:r>
              <a:t>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Controller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280160"/>
            <a:ext cx="201168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0" y="13716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</a:defRPr>
            </a:pPr>
            <a:r>
              <a:t>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数据表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75520" y="1280160"/>
            <a:ext cx="2011680" cy="11887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0" y="13716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</a:defRPr>
            </a:pPr>
            <a:r>
              <a:t>77+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API端点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743200"/>
            <a:ext cx="502920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29260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项目亮点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前后端分离架构，开发效率高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完整的进销存业务闭环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库存预警自动化，降低缺货风险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JWT无状态认证，安全性好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AOP日志切面，操作可追溯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CSV导入导出，数据迁移方便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743200"/>
            <a:ext cx="5029200" cy="3657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292608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</a:defRPr>
            </a:pPr>
            <a:r>
              <a:t>未来展望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多仓库调拨管理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条形码/二维码扫描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数据可视化大屏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移动端适配 (小程序)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Docker容器化部署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  权限细化 (RBAC)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